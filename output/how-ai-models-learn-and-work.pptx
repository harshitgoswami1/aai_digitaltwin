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ea210796724414" /><Relationship Type="http://schemas.openxmlformats.org/officeDocument/2006/relationships/extended-properties" Target="/docProps/app.xml" Id="R2cc9aff2fbb24a36" /><Relationship Type="http://schemas.openxmlformats.org/officeDocument/2006/relationships/officeDocument" Target="/ppt/presentation.xml" Id="R0d4ddbe7dd5346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e5a6e55b20487b"/>
  </p:sldMasterIdLst>
  <p:notesMasterIdLst>
    <p:notesMasterId xmlns:r="http://schemas.openxmlformats.org/officeDocument/2006/relationships" r:id="R584562803ecf44a2"/>
  </p:notesMasterIdLst>
  <p:sldIdLst>
    <p:sldId xmlns:r="http://schemas.openxmlformats.org/officeDocument/2006/relationships" id="256" r:id="Rcaed1513c5f84cdf"/>
    <p:sldId xmlns:r="http://schemas.openxmlformats.org/officeDocument/2006/relationships" id="257" r:id="Rddb28898094c4dca"/>
    <p:sldId xmlns:r="http://schemas.openxmlformats.org/officeDocument/2006/relationships" id="258" r:id="R6bb70cedcdba48e3"/>
    <p:sldId xmlns:r="http://schemas.openxmlformats.org/officeDocument/2006/relationships" id="259" r:id="Re7537e8b71e142a0"/>
    <p:sldId xmlns:r="http://schemas.openxmlformats.org/officeDocument/2006/relationships" id="260" r:id="R0d5f303906ce4ae6"/>
    <p:sldId xmlns:r="http://schemas.openxmlformats.org/officeDocument/2006/relationships" id="261" r:id="Rf67eab85538f43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5f24edc1684114" /><Relationship Type="http://schemas.openxmlformats.org/officeDocument/2006/relationships/slideMaster" Target="/ppt/slideMasters/slideMaster1.xml" Id="Refe5a6e55b20487b" /><Relationship Type="http://schemas.openxmlformats.org/officeDocument/2006/relationships/notesMaster" Target="/ppt/notesMasters/notesMaster1.xml" Id="R584562803ecf44a2" /><Relationship Type="http://schemas.openxmlformats.org/officeDocument/2006/relationships/presProps" Target="/ppt/presProps.xml" Id="Rcb333619431b44f1" /><Relationship Type="http://schemas.openxmlformats.org/officeDocument/2006/relationships/tableStyles" Target="/ppt/tableStyles.xml" Id="Re92ebbaa587a4707" /><Relationship Type="http://schemas.openxmlformats.org/officeDocument/2006/relationships/slide" Target="/ppt/slides/slide1.xml" Id="Rcaed1513c5f84cdf" /><Relationship Type="http://schemas.openxmlformats.org/officeDocument/2006/relationships/slide" Target="/ppt/slides/slide2.xml" Id="Rddb28898094c4dca" /><Relationship Type="http://schemas.openxmlformats.org/officeDocument/2006/relationships/slide" Target="/ppt/slides/slide3.xml" Id="R6bb70cedcdba48e3" /><Relationship Type="http://schemas.openxmlformats.org/officeDocument/2006/relationships/slide" Target="/ppt/slides/slide4.xml" Id="Re7537e8b71e142a0" /><Relationship Type="http://schemas.openxmlformats.org/officeDocument/2006/relationships/slide" Target="/ppt/slides/slide5.xml" Id="R0d5f303906ce4ae6" /><Relationship Type="http://schemas.openxmlformats.org/officeDocument/2006/relationships/slide" Target="/ppt/slides/slide6.xml" Id="Rf67eab85538f43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54cb6a812643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b1b0f83fc84947" /><Relationship Type="http://schemas.openxmlformats.org/officeDocument/2006/relationships/notesMaster" Target="/ppt/notesMasters/notesMaster1.xml" Id="Rd7a0bd04fca44d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71c699df864172" /><Relationship Type="http://schemas.openxmlformats.org/officeDocument/2006/relationships/notesMaster" Target="/ppt/notesMasters/notesMaster1.xml" Id="R84e0dd0e6ed546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85106516134bcc" /><Relationship Type="http://schemas.openxmlformats.org/officeDocument/2006/relationships/notesMaster" Target="/ppt/notesMasters/notesMaster1.xml" Id="R07dd0e1ebe3245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d111607ab8486f" /><Relationship Type="http://schemas.openxmlformats.org/officeDocument/2006/relationships/notesMaster" Target="/ppt/notesMasters/notesMaster1.xml" Id="Rd5d592dae4ff4f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1a0bd84fab34873" /><Relationship Type="http://schemas.openxmlformats.org/officeDocument/2006/relationships/notesMaster" Target="/ppt/notesMasters/notesMaster1.xml" Id="R6c5723087b7042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80ffb1190e41e6" /><Relationship Type="http://schemas.openxmlformats.org/officeDocument/2006/relationships/notesMaster" Target="/ppt/notesMasters/notesMaster1.xml" Id="R89d45f465fca4a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d3243751b44e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9cd012e4d42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017bd482549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881edda6944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769ffe590449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36cda456a47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24179A-7B31-472B-A583-3AA7CD4AB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10BCDF7-8AD2-416B-B8B1-D4178701D6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2229C1-915C-46C9-8BB2-1F51E5AC8A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6FD5BB-B65D-4DAA-B140-36C3DE6903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1D9B1F7-4BDB-4E32-8839-C30BD8114F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81856F-1489-4CBB-B0CF-C836C8AB1D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503D9E-F60F-431F-9EF5-42478471D3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719856F-9848-413B-BA6F-90A4458DA8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3C24F5-07C9-4D8A-B45D-B25F40E38A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DA0BFD-2FA5-4CD0-8D29-A5ECD2FA65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fb0fc21b474f3b" /><Relationship Type="http://schemas.openxmlformats.org/officeDocument/2006/relationships/slideLayout" Target="/ppt/slideLayouts/slideLayout1.xml" Id="Rda93c3f5c0ba48c5" /><Relationship Type="http://schemas.openxmlformats.org/officeDocument/2006/relationships/slideLayout" Target="/ppt/slideLayouts/slideLayout2.xml" Id="R4d28b97ecf9c444a" /><Relationship Type="http://schemas.openxmlformats.org/officeDocument/2006/relationships/slideLayout" Target="/ppt/slideLayouts/slideLayout3.xml" Id="R42bde37af52f48b6" /><Relationship Type="http://schemas.openxmlformats.org/officeDocument/2006/relationships/slideLayout" Target="/ppt/slideLayouts/slideLayout4.xml" Id="R30d2c462b5ed44c0" /><Relationship Type="http://schemas.openxmlformats.org/officeDocument/2006/relationships/slideLayout" Target="/ppt/slideLayouts/slideLayout5.xml" Id="R4675286b39d74cc0" /><Relationship Type="http://schemas.openxmlformats.org/officeDocument/2006/relationships/slideLayout" Target="/ppt/slideLayouts/slideLayout6.xml" Id="R3e23a21749f54f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93c3f5c0ba48c5"/>
    <p:sldLayoutId xmlns:r="http://schemas.openxmlformats.org/officeDocument/2006/relationships" id="2147483650" r:id="R4d28b97ecf9c444a"/>
    <p:sldLayoutId xmlns:r="http://schemas.openxmlformats.org/officeDocument/2006/relationships" id="2147483651" r:id="R42bde37af52f48b6"/>
    <p:sldLayoutId xmlns:r="http://schemas.openxmlformats.org/officeDocument/2006/relationships" id="2147483652" r:id="R30d2c462b5ed44c0"/>
    <p:sldLayoutId xmlns:r="http://schemas.openxmlformats.org/officeDocument/2006/relationships" id="2147483653" r:id="R4675286b39d74cc0"/>
    <p:sldLayoutId xmlns:r="http://schemas.openxmlformats.org/officeDocument/2006/relationships" id="2147483654" r:id="R3e23a21749f54f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9cc6133f24852" /><Relationship Type="http://schemas.openxmlformats.org/officeDocument/2006/relationships/notesSlide" Target="/ppt/notesSlides/notesSlide1.xml" Id="Rdc9c8d21f13545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045cff9de45cc" /><Relationship Type="http://schemas.openxmlformats.org/officeDocument/2006/relationships/notesSlide" Target="/ppt/notesSlides/notesSlide2.xml" Id="R794f87d5c5ef4a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6f60e036349d1" /><Relationship Type="http://schemas.openxmlformats.org/officeDocument/2006/relationships/notesSlide" Target="/ppt/notesSlides/notesSlide3.xml" Id="Rd5e0b0662283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a8a46ca5674b39" /><Relationship Type="http://schemas.openxmlformats.org/officeDocument/2006/relationships/notesSlide" Target="/ppt/notesSlides/notesSlide4.xml" Id="R815e0a9e41d64c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af76ddae264ac4" /><Relationship Type="http://schemas.openxmlformats.org/officeDocument/2006/relationships/notesSlide" Target="/ppt/notesSlides/notesSlide5.xml" Id="R5ebf10aa97434c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130150b47e4cfa" /><Relationship Type="http://schemas.openxmlformats.org/officeDocument/2006/relationships/notesSlide" Target="/ppt/notesSlides/notesSlide6.xml" Id="R31d3c2a1d5e84d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B3A4F-2BD2-4032-9CCD-04913040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579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FF591-2D02-437E-A22C-EB8DF1D9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09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7213B"/>
                </a:solidFill>
              </a:defRPr>
            </a:pPr>
            <a:r>
              <a:rPr sz="4950" b="1">
                <a:solidFill>
                  <a:srgbClr val="17213B"/>
                </a:solidFill>
              </a:rPr>
              <a:t>How an AI model</a:t>
            </a:r>
          </a:p>
          <a:p xmlns:a="http://schemas.openxmlformats.org/drawingml/2006/main">
            <a:pPr>
              <a:defRPr sz="4950" b="1">
                <a:solidFill>
                  <a:srgbClr val="17213B"/>
                </a:solidFill>
              </a:defRPr>
            </a:pPr>
            <a:r>
              <a:rPr sz="4950" b="1">
                <a:solidFill>
                  <a:srgbClr val="17213B"/>
                </a:solidFill>
              </a:rPr>
              <a:t>learns and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29737-7FE0-4BB4-91DD-4FC123E1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885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36077"/>
                </a:solidFill>
              </a:defRPr>
            </a:pPr>
            <a:r>
              <a:rPr sz="2025" b="0">
                <a:solidFill>
                  <a:srgbClr val="536077"/>
                </a:solidFill>
              </a:rPr>
              <a:t>A simple guide to training and answering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8D577-2553-42A3-B221-1F50D7CD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000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D65A38"/>
                </a:solidFill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D65A38"/>
                </a:solidFill>
              </a:defRPr>
            </a:pPr>
            <a:r>
              <a:rPr sz="1275" b="1">
                <a:solidFill>
                  <a:srgbClr val="D65A38"/>
                </a:solidFill>
              </a:rPr>
              <a:t>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46102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D217B-ABF5-4ABF-882A-36E78303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13B"/>
                </a:solidFill>
              </a:defRPr>
            </a:pPr>
            <a:r>
              <a:rPr sz="3150" b="1">
                <a:solidFill>
                  <a:srgbClr val="17213B"/>
                </a:solidFill>
              </a:rPr>
              <a:t>The basic idea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E72E4-5F91-49EB-9FAD-CFA1875B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579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5663A-45A3-4A99-A3FE-FD59025F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077"/>
                </a:solidFill>
              </a:defRPr>
            </a:pPr>
            <a:r>
              <a:rPr sz="2175" b="0">
                <a:solidFill>
                  <a:srgbClr val="536077"/>
                </a:solidFill>
              </a:rPr>
              <a:t>A language model learns patterns in text by practicing one task: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55CB3D-6C42-4A64-9E86-667CB801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1019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75" b="1">
                <a:solidFill>
                  <a:srgbClr val="D65A38"/>
                </a:solidFill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D65A38"/>
                </a:solidFill>
              </a:defRPr>
            </a:pPr>
            <a:r>
              <a:rPr sz="3675" b="1">
                <a:solidFill>
                  <a:srgbClr val="D65A38"/>
                </a:solidFill>
              </a:rPr>
              <a:t>predict what comes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03DF2-2FAA-47C8-B2E0-4C80C28A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43325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7213B"/>
                </a:solidFill>
              </a:defRPr>
            </a:pPr>
            <a:r>
              <a:rPr sz="2850" b="1">
                <a:solidFill>
                  <a:srgbClr val="17213B"/>
                </a:solidFill>
              </a:rPr>
              <a:t>“The cat sat on the ...”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EE861-5412-42DD-9811-12B7CFF0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86300"/>
            <a:ext cx="9810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36077"/>
                </a:solidFill>
              </a:defRPr>
            </a:pPr>
            <a:r>
              <a:rPr sz="1950" b="0">
                <a:solidFill>
                  <a:srgbClr val="536077"/>
                </a:solidFill>
              </a:rPr>
              <a:t>Training helps the model assign a higher chance to likely continuations, such as “mat.”</a:t>
            </a:r>
          </a:p>
        </p:txBody>
      </p:sp>
    </p:spTree>
    <p:extLst>
      <p:ext uri="{BB962C8B-B14F-4D97-AF65-F5344CB8AC3E}">
        <p14:creationId xmlns:p14="http://schemas.microsoft.com/office/powerpoint/2010/main" val="99425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AC38EF-6CF3-4E3C-9630-2490357B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13B"/>
                </a:solidFill>
              </a:defRPr>
            </a:pPr>
            <a:r>
              <a:rPr sz="3150" b="1">
                <a:solidFill>
                  <a:srgbClr val="17213B"/>
                </a:solidFill>
              </a:rPr>
              <a:t>How training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CBC31-4C71-4837-9633-30E6553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579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D5AB9-ECE9-45D4-9DB9-4E75BA62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335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D65A38"/>
                </a:solidFill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D65A38"/>
                </a:solidFill>
              </a:defRPr>
            </a:pPr>
            <a:r>
              <a:rPr sz="3975" b="1">
                <a:solidFill>
                  <a:srgbClr val="D65A38"/>
                </a:solidFill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A8B687-5E99-4F61-A689-7A9C6052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21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13B"/>
                </a:solidFill>
              </a:defRPr>
            </a:pPr>
            <a:r>
              <a:rPr sz="2475" b="1">
                <a:solidFill>
                  <a:srgbClr val="17213B"/>
                </a:solidFill>
              </a:rPr>
              <a:t>Read examples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A8F3C-E5A4-448E-8A48-52FC6C81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431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077"/>
                </a:solidFill>
              </a:defRPr>
            </a:pPr>
            <a:r>
              <a:rPr sz="1725" b="0">
                <a:solidFill>
                  <a:srgbClr val="536077"/>
                </a:solidFill>
              </a:rPr>
              <a:t>The model processes large collections of text.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E7CE54-F07B-465F-BD11-32099657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48025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D65A38"/>
                </a:solidFill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D65A38"/>
                </a:solidFill>
              </a:defRPr>
            </a:pPr>
            <a:r>
              <a:rPr sz="3975" b="1">
                <a:solidFill>
                  <a:srgbClr val="D65A38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C489C-078E-4859-91AB-705547FF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766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13B"/>
                </a:solidFill>
              </a:defRPr>
            </a:pPr>
            <a:r>
              <a:rPr sz="2475" b="1">
                <a:solidFill>
                  <a:srgbClr val="17213B"/>
                </a:solidFill>
              </a:rPr>
              <a:t>Make a prediction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C1254-B4F6-483B-8391-E7664F51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077"/>
                </a:solidFill>
              </a:defRPr>
            </a:pPr>
            <a:r>
              <a:rPr sz="1725" b="0">
                <a:solidFill>
                  <a:srgbClr val="536077"/>
                </a:solidFill>
              </a:rPr>
              <a:t>It predicts the next piece of text and compares that prediction with the example.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19DCA-1DBC-4A01-BAD8-B4C0E0D5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975" b="1">
                <a:solidFill>
                  <a:srgbClr val="D65A38"/>
                </a:solidFill>
              </a:defRPr>
            </a:defPPr>
          </a:lstStyle>
          <a:p xmlns:a="http://schemas.openxmlformats.org/drawingml/2006/main">
            <a:pPr>
              <a:defRPr sz="3975" b="1">
                <a:solidFill>
                  <a:srgbClr val="D65A38"/>
                </a:solidFill>
              </a:defRPr>
            </a:pPr>
            <a:r>
              <a:rPr sz="3975" b="1">
                <a:solidFill>
                  <a:srgbClr val="D65A38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CAA2B-3419-43CF-9744-1C70673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9585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17213B"/>
                </a:solidFill>
              </a:defRPr>
            </a:pPr>
            <a:r>
              <a:rPr sz="2475" b="1">
                <a:solidFill>
                  <a:srgbClr val="17213B"/>
                </a:solidFill>
              </a:rPr>
              <a:t>Adjust the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C6DB4D-E5C8-4985-9F71-F60D047C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476875"/>
            <a:ext cx="9525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36077"/>
                </a:solidFill>
              </a:defRPr>
            </a:pPr>
            <a:r>
              <a:rPr sz="1725" b="0">
                <a:solidFill>
                  <a:srgbClr val="536077"/>
                </a:solidFill>
              </a:rPr>
              <a:t>Small changes to its internal weights improve future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064585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30C8D-84B3-43A2-9EEE-714CBD33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13B"/>
                </a:solidFill>
              </a:defRPr>
            </a:pPr>
            <a:r>
              <a:rPr sz="3150" b="1">
                <a:solidFill>
                  <a:srgbClr val="17213B"/>
                </a:solidFill>
              </a:rPr>
              <a:t>Making the model more useful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B2524-2C09-43F5-BAB2-57A84DED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579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9645F-60F6-4DA3-9248-B8D368E0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47825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13B"/>
                </a:solidFill>
              </a:defRPr>
            </a:pPr>
            <a:r>
              <a:rPr sz="2400" b="1">
                <a:solidFill>
                  <a:srgbClr val="17213B"/>
                </a:solidFill>
              </a:rPr>
              <a:t>Prediction training gives the model a broad grasp of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E7F2D-ECDD-4894-9AC8-1BBD521D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009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536077"/>
                </a:solidFill>
              </a:defRPr>
            </a:pPr>
            <a:r>
              <a:rPr sz="2175" b="0">
                <a:solidFill>
                  <a:srgbClr val="536077"/>
                </a:solidFill>
              </a:rPr>
              <a:t>Further training can use example answers and human feedback to help it follow instructions and respond more helpfully.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5B404-4E5F-4148-93BA-79ADBE07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D65A38"/>
                </a:solidFill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65A38"/>
                </a:solidFill>
              </a:defRPr>
            </a:pPr>
            <a:r>
              <a:rPr sz="2175" b="1">
                <a:solidFill>
                  <a:srgbClr val="D65A38"/>
                </a:solidFill>
              </a:rPr>
              <a:t>Developers also test the model to find mistakes and improve its behavior.</a:t>
            </a:r>
          </a:p>
        </p:txBody>
      </p:sp>
    </p:spTree>
    <p:extLst>
      <p:ext uri="{BB962C8B-B14F-4D97-AF65-F5344CB8AC3E}">
        <p14:creationId xmlns:p14="http://schemas.microsoft.com/office/powerpoint/2010/main" val="1496848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BF07A-82A8-4D41-AB73-2C4376E2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13B"/>
                </a:solidFill>
              </a:defRPr>
            </a:pPr>
            <a:r>
              <a:rPr sz="3150" b="1">
                <a:solidFill>
                  <a:srgbClr val="17213B"/>
                </a:solidFill>
              </a:rPr>
              <a:t>What happens when you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335C4-0FA4-499C-8DCC-D644E197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579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4584C-6C2B-40F8-B4B7-1672DEFD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13B"/>
                </a:solidFill>
              </a:defRPr>
            </a:pPr>
            <a:r>
              <a:rPr sz="2400" b="1">
                <a:solidFill>
                  <a:srgbClr val="17213B"/>
                </a:solidFill>
              </a:rPr>
              <a:t>Your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DA2DE-7BFE-40D3-A5AB-548C227B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76475"/>
            <a:ext cx="962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077"/>
                </a:solidFill>
              </a:defRPr>
            </a:pPr>
            <a:r>
              <a:rPr sz="1800" b="0">
                <a:solidFill>
                  <a:srgbClr val="536077"/>
                </a:solidFill>
              </a:rPr>
              <a:t>The model reads your prompt and the available conversation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8C66B-DB65-456E-831A-9BEABA5E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7213B"/>
                </a:solidFill>
              </a:defRPr>
            </a:pPr>
            <a:r>
              <a:rPr sz="2400" b="1">
                <a:solidFill>
                  <a:srgbClr val="17213B"/>
                </a:solidFill>
              </a:rPr>
              <a:t>Next words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36BCE-9333-4D68-8F1B-2BDE4C59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0001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077"/>
                </a:solidFill>
              </a:defRPr>
            </a:pPr>
            <a:r>
              <a:rPr sz="1800" b="0">
                <a:solidFill>
                  <a:srgbClr val="536077"/>
                </a:solidFill>
              </a:rPr>
              <a:t>It chooses a likely next piece of text, then repeats the process to form a response.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DF9A4-D453-494B-9EE1-51EFB169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D65A38"/>
                </a:solidFill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D65A38"/>
                </a:solidFill>
              </a:defRPr>
            </a:pPr>
            <a:r>
              <a:rPr sz="2400" b="1">
                <a:solidFill>
                  <a:srgbClr val="D65A38"/>
                </a:solidFill>
              </a:rPr>
              <a:t>Answer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F5183-77D2-4BC4-A525-F903447E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8642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077"/>
                </a:solidFill>
              </a:defRPr>
            </a:pPr>
            <a:r>
              <a:rPr sz="1800" b="0">
                <a:solidFill>
                  <a:srgbClr val="536077"/>
                </a:solidFill>
              </a:rPr>
              <a:t>The result can vary, even for similar prompts.</a:t>
            </a:r>
          </a:p>
        </p:txBody>
      </p:sp>
    </p:spTree>
    <p:extLst>
      <p:ext uri="{BB962C8B-B14F-4D97-AF65-F5344CB8AC3E}">
        <p14:creationId xmlns:p14="http://schemas.microsoft.com/office/powerpoint/2010/main" val="3270975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D882E-B893-460D-ABA4-4BEF8849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13B"/>
                </a:solidFill>
              </a:defRPr>
            </a:pPr>
            <a:r>
              <a:rPr sz="3150" b="1">
                <a:solidFill>
                  <a:srgbClr val="17213B"/>
                </a:solidFill>
              </a:rPr>
              <a:t>What to keep in mind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1253A-71B3-4744-B6B4-2757283E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2579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36077"/>
                </a:solidFill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36077"/>
                </a:solidFill>
              </a:defRPr>
            </a:pPr>
            <a:r>
              <a:rPr sz="1200" b="0">
                <a:solidFill>
                  <a:srgbClr val="536077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2EBED-451C-4D31-B85A-996EF079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4572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D65A38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D65A38"/>
                </a:solidFill>
              </a:defRPr>
            </a:pPr>
            <a:r>
              <a:rPr sz="2625" b="1">
                <a:solidFill>
                  <a:srgbClr val="D65A38"/>
                </a:solidFill>
              </a:rPr>
              <a:t>Useful for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F3E9A8-500D-460C-B32D-946C7B0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667250" cy="2257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213B"/>
                </a:solidFill>
              </a:defRPr>
            </a:pPr>
            <a:r>
              <a:rPr sz="2175" b="0">
                <a:solidFill>
                  <a:srgbClr val="17213B"/>
                </a:solidFill>
              </a:rPr>
              <a:t>Explaining ideas</a:t>
            </a:r>
          </a:p>
          <a:p xmlns:a="http://schemas.openxmlformats.org/drawingml/2006/main">
            <a:pPr>
              <a:defRPr sz="2175" b="0">
                <a:solidFill>
                  <a:srgbClr val="17213B"/>
                </a:solidFill>
              </a:defRPr>
            </a:pPr>
            <a:r>
              <a:rPr sz="2175" b="0">
                <a:solidFill>
                  <a:srgbClr val="17213B"/>
                </a:solidFill>
              </a:rPr>
              <a:t>Drafting and editing</a:t>
            </a:r>
          </a:p>
          <a:p xmlns:a="http://schemas.openxmlformats.org/drawingml/2006/main">
            <a:pPr>
              <a:defRPr sz="2175" b="0">
                <a:solidFill>
                  <a:srgbClr val="17213B"/>
                </a:solidFill>
              </a:defRPr>
            </a:pPr>
            <a:r>
              <a:rPr sz="2175" b="0">
                <a:solidFill>
                  <a:srgbClr val="17213B"/>
                </a:solidFill>
              </a:rPr>
              <a:t>Helping with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D3FEF-FD74-4021-8B6E-C316B365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43075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D65A38"/>
                </a:solidFill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D65A38"/>
                </a:solidFill>
              </a:defRPr>
            </a:pPr>
            <a:r>
              <a:rPr sz="2625" b="1">
                <a:solidFill>
                  <a:srgbClr val="D65A38"/>
                </a:solidFill>
              </a:rPr>
              <a:t>Check carefully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91DA1-1C7F-4EBC-B8E6-61250FF9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13B"/>
                </a:solidFill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13B"/>
                </a:solidFill>
              </a:defRPr>
            </a:pPr>
            <a:r>
              <a:rPr sz="2025" b="0">
                <a:solidFill>
                  <a:srgbClr val="17213B"/>
                </a:solidFill>
              </a:rPr>
              <a:t>A fluent answer can still be wrong.</a:t>
            </a:r>
          </a:p>
          <a:p xmlns:a="http://schemas.openxmlformats.org/drawingml/2006/main">
            <a:pPr>
              <a:defRPr sz="2025" b="0">
                <a:solidFill>
                  <a:srgbClr val="17213B"/>
                </a:solidFill>
              </a:defRPr>
            </a:pPr>
            <a:r>
              <a:rPr sz="2025" b="0">
                <a:solidFill>
                  <a:srgbClr val="17213B"/>
                </a:solidFill>
              </a:rPr>
              <a:t>Check important facts with reliable sources.</a:t>
            </a:r>
          </a:p>
          <a:p xmlns:a="http://schemas.openxmlformats.org/drawingml/2006/main">
            <a:pPr>
              <a:defRPr sz="2025" b="0">
                <a:solidFill>
                  <a:srgbClr val="17213B"/>
                </a:solidFill>
              </a:defRPr>
            </a:pPr>
            <a:r>
              <a:rPr sz="2025" b="0">
                <a:solidFill>
                  <a:srgbClr val="17213B"/>
                </a:solidFill>
              </a:rPr>
              <a:t>Do not assume the model understands the world like a person.</a:t>
            </a:r>
          </a:p>
        </p:txBody>
      </p:sp>
    </p:spTree>
    <p:extLst>
      <p:ext uri="{BB962C8B-B14F-4D97-AF65-F5344CB8AC3E}">
        <p14:creationId xmlns:p14="http://schemas.microsoft.com/office/powerpoint/2010/main" val="3294017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2026-10-09T04:19:27.2100000Z</dcterms:created>
  <dcterms:modified xsi:type="dcterms:W3CDTF">2026-10-09T04:19:27.2100000Z</dcterms:modified>
</coreProperties>
</file>